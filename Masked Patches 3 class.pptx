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7" r:id="rId7"/>
    <p:sldId id="268" r:id="rId8"/>
    <p:sldId id="269" r:id="rId9"/>
    <p:sldId id="271" r:id="rId10"/>
    <p:sldId id="270" r:id="rId11"/>
    <p:sldId id="272" r:id="rId12"/>
    <p:sldId id="273" r:id="rId13"/>
    <p:sldId id="274" r:id="rId14"/>
    <p:sldId id="275" r:id="rId15"/>
    <p:sldId id="276" r:id="rId16"/>
    <p:sldId id="277" r:id="rId1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5D967-F453-98E2-7E41-ECC42552D7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8981DA-474B-386B-3624-087828FFDC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FD523-F58A-19DC-90E0-AA1C63499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33433-3475-4442-8D5D-2E9E3AB5776B}" type="datetimeFigureOut">
              <a:rPr lang="de-DE" smtClean="0"/>
              <a:t>13.04.2026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D2423-EE9A-7D7B-DCF7-528A065AB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04E0B-53BD-CE7E-2B36-F16F3CD67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1F053-E2C0-4F92-A633-F405A44FFB2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7326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F60E1-6FFE-C11E-4187-4C486C3F4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5FBDA-B3FD-6ECC-EF9D-0970D82A0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72FE75-7DD4-C85C-139C-FAFC52E46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33433-3475-4442-8D5D-2E9E3AB5776B}" type="datetimeFigureOut">
              <a:rPr lang="de-DE" smtClean="0"/>
              <a:t>13.04.2026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4E53C-E583-012D-35A9-D51BB8AFB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6C9DB-6905-DAE6-282E-F17753A1D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1F053-E2C0-4F92-A633-F405A44FFB2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0071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E882F-2C5B-590D-46C8-F9DA0C53A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209D7-CB76-F7CA-F6A2-8A28D680F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41B68-3615-59A6-EB67-00E46F774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33433-3475-4442-8D5D-2E9E3AB5776B}" type="datetimeFigureOut">
              <a:rPr lang="de-DE" smtClean="0"/>
              <a:t>13.04.2026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A96E70-4991-C2F5-F7EA-5C1ED46B2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634E6-2697-0E3D-3898-05D07F898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1F053-E2C0-4F92-A633-F405A44FFB2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6660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9B298-1642-E1A2-6302-47C54ABF6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AAD73-018D-BF1E-EFB3-450B9E1799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678F71-E923-F266-842F-B3C5CE69CD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585656-1525-80EB-3040-510248350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33433-3475-4442-8D5D-2E9E3AB5776B}" type="datetimeFigureOut">
              <a:rPr lang="de-DE" smtClean="0"/>
              <a:t>13.04.2026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8C29DE-BB75-F1E4-70B8-9F6108668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EABFB2-1E63-BCE8-6433-94ADEA081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1F053-E2C0-4F92-A633-F405A44FFB2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3423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737F4-04BA-6CC9-E933-9B118359F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3AB035-8FBA-C2E0-4BEF-CF7FFC0D0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901193-5126-7EC6-E963-6DB4D7B39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4EF2F9-3832-3C0C-3C9A-777CE8E601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12AF91-7D9A-6EDF-A1DF-D5A2AC249E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172664-A46F-0B32-19AB-9B34C273D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33433-3475-4442-8D5D-2E9E3AB5776B}" type="datetimeFigureOut">
              <a:rPr lang="de-DE" smtClean="0"/>
              <a:t>13.04.2026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8A73E9-D53D-FB4C-EA59-E87523B2C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4B54C9-9C1D-F09D-1295-0C5BDCF3C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1F053-E2C0-4F92-A633-F405A44FFB2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4067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D70CE-9629-BCBE-B13A-625F67E75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86672-555D-F836-9CAC-76D38032D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33433-3475-4442-8D5D-2E9E3AB5776B}" type="datetimeFigureOut">
              <a:rPr lang="de-DE" smtClean="0"/>
              <a:t>13.04.2026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5A2C7C-DA30-E76A-856B-5C6E0AAF6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5B4F43-D60E-A241-E84E-D015ED1A9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1F053-E2C0-4F92-A633-F405A44FFB2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9911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EF7F02-7CF9-3B5B-336A-698419A12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33433-3475-4442-8D5D-2E9E3AB5776B}" type="datetimeFigureOut">
              <a:rPr lang="de-DE" smtClean="0"/>
              <a:t>13.04.2026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22264D-AFA8-C20C-D026-E74FD29E9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4CC20E-773E-424C-8D13-499318202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1F053-E2C0-4F92-A633-F405A44FFB2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2251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7FBB9-EE2F-D2D5-36C2-2D41BF579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F8D37-818F-421E-E24B-FF51FE05A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3A5973-FACB-3DCF-D0B2-41A707AB03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91036C-30D9-31FF-2A7C-07F8D9B42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33433-3475-4442-8D5D-2E9E3AB5776B}" type="datetimeFigureOut">
              <a:rPr lang="de-DE" smtClean="0"/>
              <a:t>13.04.2026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C7CB7B-9333-F12F-1950-BAAD558D9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118D2F-3612-BFD7-6D68-105CADCAB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1F053-E2C0-4F92-A633-F405A44FFB2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8504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0B2B1-C02D-AB36-CAF7-58E50B22F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0BAD36-B5AD-6364-6256-B40A646D73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4B5794-834B-08F7-DA3C-644FFA9864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CF156D-31DB-02C7-38F5-8041FB8AA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33433-3475-4442-8D5D-2E9E3AB5776B}" type="datetimeFigureOut">
              <a:rPr lang="de-DE" smtClean="0"/>
              <a:t>13.04.2026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C1D9A8-BF84-03E8-B55B-04EA31A02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C36150-D5AB-CEA6-D0E4-63AC6BF4B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1F053-E2C0-4F92-A633-F405A44FFB2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0637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7D8D2-C4A5-B37D-14CD-D59E15193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B19165-03E7-2C74-740D-2CBF452C4C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602DE-2A30-2063-3681-1BF1EE051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33433-3475-4442-8D5D-2E9E3AB5776B}" type="datetimeFigureOut">
              <a:rPr lang="de-DE" smtClean="0"/>
              <a:t>13.04.2026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A30E2-2CAC-2967-AB3D-9CBF5A540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71B5B-4E98-BCFD-EBAB-83AEE4761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1F053-E2C0-4F92-A633-F405A44FFB2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2010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603646-29C7-CA9C-CBFC-A249DBA6B0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B26EB1-B36B-6592-439E-EDA40C839F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E9207-1018-0D80-9283-B09D274C1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33433-3475-4442-8D5D-2E9E3AB5776B}" type="datetimeFigureOut">
              <a:rPr lang="de-DE" smtClean="0"/>
              <a:t>13.04.2026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85133B-BFDE-A9D3-77C9-6D07FC96B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4E660-84ED-D9D3-7147-195EC3F40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1F053-E2C0-4F92-A633-F405A44FFB2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337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CCA406-ACB2-B784-3F72-6978DA7EB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525729-6219-A2D9-9299-884836980B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5C322-8A35-5894-9AD5-440D73A31A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033433-3475-4442-8D5D-2E9E3AB5776B}" type="datetimeFigureOut">
              <a:rPr lang="de-DE" smtClean="0"/>
              <a:t>13.04.2026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17E43-8ABE-A965-D7CA-BCC35AD77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7A305-B62C-3F2C-85DC-C09BF022DF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A1F053-E2C0-4F92-A633-F405A44FFB2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645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6CB55-6115-74C6-5872-970FF9AF1D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Masked Patches 3 class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A50FFD-2F0D-21DB-5425-E3C160D11C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Anshuman Singh</a:t>
            </a:r>
          </a:p>
          <a:p>
            <a:r>
              <a:rPr lang="en-IN" dirty="0"/>
              <a:t>5431362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78410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44AE9-A1FA-EBC4-443A-E9ECDE08D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0B89A-0A82-F7A0-3D05-476CBBACA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20" y="365760"/>
            <a:ext cx="10753344" cy="1042416"/>
          </a:xfrm>
        </p:spPr>
        <p:txBody>
          <a:bodyPr>
            <a:noAutofit/>
          </a:bodyPr>
          <a:lstStyle/>
          <a:p>
            <a:r>
              <a:rPr lang="en-IN" sz="4800" dirty="0"/>
              <a:t>Previous Results from CNN model for 4 class</a:t>
            </a:r>
            <a:endParaRPr lang="de-DE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E48936-5A73-99E9-FBF8-7AFA06E96E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2560" y="5932386"/>
            <a:ext cx="9144000" cy="834173"/>
          </a:xfrm>
        </p:spPr>
        <p:txBody>
          <a:bodyPr/>
          <a:lstStyle/>
          <a:p>
            <a:r>
              <a:rPr lang="en-US" dirty="0" err="1"/>
              <a:t>class_names</a:t>
            </a:r>
            <a:r>
              <a:rPr lang="en-US" dirty="0"/>
              <a:t> = ["Slate", "Clay", "Cement", "</a:t>
            </a:r>
            <a:r>
              <a:rPr lang="en-US" dirty="0" err="1"/>
              <a:t>Flat_roof_coverings</a:t>
            </a:r>
            <a:r>
              <a:rPr lang="en-US" dirty="0"/>
              <a:t>"]</a:t>
            </a:r>
            <a:endParaRPr lang="de-DE" dirty="0"/>
          </a:p>
          <a:p>
            <a:endParaRPr lang="de-D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D9F928-53D9-8F7B-D402-8EA7E250B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406" y="1534999"/>
            <a:ext cx="5284594" cy="32942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3CC061-8E33-64C8-EAFB-D9F344A41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591" y="1408176"/>
            <a:ext cx="4958039" cy="4524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116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6207B-0844-DF2A-C340-D8A64C133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7701F-0229-0AA8-DB20-7A9E6A9704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136" y="-109727"/>
            <a:ext cx="9579864" cy="2258568"/>
          </a:xfrm>
        </p:spPr>
        <p:txBody>
          <a:bodyPr>
            <a:normAutofit/>
          </a:bodyPr>
          <a:lstStyle/>
          <a:p>
            <a:r>
              <a:rPr lang="en-IN" dirty="0"/>
              <a:t>Possible reasons for failure cases in 4 class classification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B3362C-626B-5A6F-DE1E-D64896CB69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4984" y="2404872"/>
            <a:ext cx="9653016" cy="4069080"/>
          </a:xfrm>
        </p:spPr>
        <p:txBody>
          <a:bodyPr>
            <a:normAutofit/>
          </a:bodyPr>
          <a:lstStyle/>
          <a:p>
            <a:pPr marL="457200" indent="-457200" algn="l">
              <a:buAutoNum type="arabicPeriod"/>
            </a:pPr>
            <a:r>
              <a:rPr lang="en-IN" dirty="0"/>
              <a:t>Shape and Height that means not flat roof covering.</a:t>
            </a:r>
          </a:p>
          <a:p>
            <a:pPr marL="457200" indent="-457200" algn="l">
              <a:buFont typeface="Arial" panose="020B0604020202020204" pitchFamily="34" charset="0"/>
              <a:buAutoNum type="arabicPeriod"/>
            </a:pPr>
            <a:r>
              <a:rPr lang="en-IN" dirty="0"/>
              <a:t>Many clay are classified as cement.</a:t>
            </a:r>
          </a:p>
          <a:p>
            <a:pPr marL="457200" indent="-457200" algn="l">
              <a:buFont typeface="Arial" panose="020B0604020202020204" pitchFamily="34" charset="0"/>
              <a:buAutoNum type="arabicPeriod"/>
            </a:pPr>
            <a:r>
              <a:rPr lang="en-IN" dirty="0"/>
              <a:t>Problem in Ground truth data-(Flat roof covering has wrong image)</a:t>
            </a:r>
          </a:p>
          <a:p>
            <a:pPr marL="457200" indent="-457200" algn="l">
              <a:buFont typeface="Arial" panose="020B0604020202020204" pitchFamily="34" charset="0"/>
              <a:buAutoNum type="arabicPeriod"/>
            </a:pPr>
            <a:r>
              <a:rPr lang="en-IN" dirty="0"/>
              <a:t>Two roof in a single image.(Possibilities in vector data)</a:t>
            </a:r>
          </a:p>
          <a:p>
            <a:pPr marL="457200" indent="-457200" algn="l">
              <a:buFont typeface="Arial" panose="020B0604020202020204" pitchFamily="34" charset="0"/>
              <a:buAutoNum type="arabicPeriod"/>
            </a:pPr>
            <a:r>
              <a:rPr lang="en-IN" dirty="0"/>
              <a:t>Very Challenging samples (roof cannot visible has many solar panels) Flat roof covering</a:t>
            </a:r>
          </a:p>
          <a:p>
            <a:pPr algn="l"/>
            <a:endParaRPr lang="en-IN" b="1" dirty="0"/>
          </a:p>
          <a:p>
            <a:pPr algn="l"/>
            <a:endParaRPr lang="en-IN" dirty="0"/>
          </a:p>
          <a:p>
            <a:pPr marL="457200" indent="-457200" algn="l">
              <a:buFont typeface="Arial" panose="020B0604020202020204" pitchFamily="34" charset="0"/>
              <a:buAutoNum type="arabicPeriod"/>
            </a:pPr>
            <a:endParaRPr lang="en-IN" dirty="0"/>
          </a:p>
          <a:p>
            <a:pPr marL="457200" indent="-457200" algn="l">
              <a:buAutoNum type="arabicPeriod"/>
            </a:pPr>
            <a:endParaRPr lang="en-IN" dirty="0"/>
          </a:p>
          <a:p>
            <a:pPr marL="457200" indent="-457200" algn="l">
              <a:buAutoNum type="arabicPeriod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95391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7A3B2-0F33-BB81-466A-3A916C672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3B22E-C494-95A0-B357-EF4595D3CD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0625"/>
            <a:ext cx="9144000" cy="1064712"/>
          </a:xfrm>
        </p:spPr>
        <p:txBody>
          <a:bodyPr>
            <a:normAutofit fontScale="90000"/>
          </a:bodyPr>
          <a:lstStyle/>
          <a:p>
            <a:r>
              <a:rPr lang="en-IN" dirty="0"/>
              <a:t>Classification Results 4 class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69E4F3-B14C-A3F5-E38D-126C074C1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0625" y="1628384"/>
            <a:ext cx="10367375" cy="3629416"/>
          </a:xfrm>
        </p:spPr>
        <p:txBody>
          <a:bodyPr/>
          <a:lstStyle/>
          <a:p>
            <a:pPr marL="457200" indent="-457200" algn="l">
              <a:buAutoNum type="arabicPeriod"/>
            </a:pPr>
            <a:r>
              <a:rPr lang="en-IN" dirty="0"/>
              <a:t>Shape and Height that means not flat roof covering.</a:t>
            </a:r>
          </a:p>
          <a:p>
            <a:pPr algn="l"/>
            <a:endParaRPr lang="en-IN" dirty="0"/>
          </a:p>
          <a:p>
            <a:pPr marL="457200" indent="-457200" algn="l">
              <a:buAutoNum type="arabicPeriod"/>
            </a:pPr>
            <a:endParaRPr lang="de-D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B18EF2-0D0B-B2D2-FFCA-83E32C210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6942" y="1365337"/>
            <a:ext cx="2370025" cy="23090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CA4FF2-5D1C-4C8A-6FBB-F94A15F9F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861" y="2791847"/>
            <a:ext cx="2286198" cy="23014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37BF83-E510-87A8-6A86-1518038C6B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6409" y="3674397"/>
            <a:ext cx="4770533" cy="24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944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E947F-4AEB-CE4C-17EC-E6F8E1A59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CAB34-F690-47D7-4442-A344981468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0625"/>
            <a:ext cx="9144000" cy="1064712"/>
          </a:xfrm>
        </p:spPr>
        <p:txBody>
          <a:bodyPr/>
          <a:lstStyle/>
          <a:p>
            <a:r>
              <a:rPr lang="en-IN" dirty="0"/>
              <a:t>Classification Results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88E48F-0EDD-21C1-4419-D4505766D2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0625" y="1628384"/>
            <a:ext cx="10367375" cy="3629416"/>
          </a:xfrm>
        </p:spPr>
        <p:txBody>
          <a:bodyPr/>
          <a:lstStyle/>
          <a:p>
            <a:pPr marL="457200" indent="-457200" algn="l">
              <a:buAutoNum type="arabicPeriod" startAt="2"/>
            </a:pPr>
            <a:r>
              <a:rPr lang="en-IN" dirty="0"/>
              <a:t>Many clay are classified as cement.</a:t>
            </a:r>
          </a:p>
          <a:p>
            <a:pPr marL="457200" indent="-457200" algn="l">
              <a:buAutoNum type="arabicPeriod" startAt="2"/>
            </a:pPr>
            <a:endParaRPr lang="en-IN" dirty="0"/>
          </a:p>
          <a:p>
            <a:pPr algn="l"/>
            <a:endParaRPr lang="de-D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B5D2A6-AED9-05DC-7AB5-0D3F026EE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33" y="2463316"/>
            <a:ext cx="1646063" cy="2766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06340F2-71EA-CD3C-D2D9-83B12F64A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9169" y="2389135"/>
            <a:ext cx="1638442" cy="25757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00AA10-CCD2-F051-4207-76E14F91AE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282" y="2389135"/>
            <a:ext cx="1562235" cy="242337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657B2D5-4BBC-255A-056D-9F6352E2E0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6155" y="2206238"/>
            <a:ext cx="2034716" cy="294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840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B0F79-D7D4-F07F-18F5-67F18AD1C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0A21F-9CAB-397F-AB3A-7BBD628B44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0625"/>
            <a:ext cx="9144000" cy="1064712"/>
          </a:xfrm>
        </p:spPr>
        <p:txBody>
          <a:bodyPr/>
          <a:lstStyle/>
          <a:p>
            <a:r>
              <a:rPr lang="en-IN" dirty="0"/>
              <a:t>Classification Results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8BC21F-68B8-077D-7548-CA245563FE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0625" y="1628384"/>
            <a:ext cx="10367375" cy="3629416"/>
          </a:xfrm>
        </p:spPr>
        <p:txBody>
          <a:bodyPr/>
          <a:lstStyle/>
          <a:p>
            <a:pPr algn="l"/>
            <a:r>
              <a:rPr lang="en-IN" dirty="0"/>
              <a:t>4. Problem in Ground truth data-(Flat roof covering has wrong image)</a:t>
            </a:r>
          </a:p>
          <a:p>
            <a:pPr algn="l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67B6D3-70AF-6069-2630-0C8BB6ABA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31" y="2292372"/>
            <a:ext cx="1752752" cy="23014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2A90D66-2FC9-4A48-64F1-A6AB2D463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0371" y="2292372"/>
            <a:ext cx="1348857" cy="241574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CAAAC3C-4309-F415-7D29-159EA9D852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3964" y="2399061"/>
            <a:ext cx="1714649" cy="230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900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8D0D8-93AC-53BF-98ED-9FAC96F3C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64C03-F625-505D-6EA0-AB9A3FDA12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0625"/>
            <a:ext cx="9144000" cy="1064712"/>
          </a:xfrm>
        </p:spPr>
        <p:txBody>
          <a:bodyPr/>
          <a:lstStyle/>
          <a:p>
            <a:r>
              <a:rPr lang="en-IN" dirty="0"/>
              <a:t>Classification Results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AE4286-A5A6-3B37-7E86-D1FCBEFAE6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0625" y="1628384"/>
            <a:ext cx="10367375" cy="3629416"/>
          </a:xfrm>
        </p:spPr>
        <p:txBody>
          <a:bodyPr/>
          <a:lstStyle/>
          <a:p>
            <a:pPr algn="l"/>
            <a:r>
              <a:rPr lang="en-IN" dirty="0"/>
              <a:t>5. Two roof in a single image.(Possibilities in vector data)</a:t>
            </a:r>
          </a:p>
          <a:p>
            <a:pPr algn="l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B20370-6D69-A6F0-0A00-316E8AFA8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89" y="2225550"/>
            <a:ext cx="2476715" cy="26824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114FE11-D879-CFD8-CFD7-79DDF1479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9596" y="2126481"/>
            <a:ext cx="2034716" cy="28806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EA9AD36-A8CF-AE56-114E-92B15E30BD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0115" y="2044180"/>
            <a:ext cx="3170195" cy="318543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295CC8D-E1E8-3196-277B-02126CF07D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8309" y="2060669"/>
            <a:ext cx="1928027" cy="3215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178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56733-68B1-38A1-3327-CADC0D84B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BB5FF-28F7-9E4E-2118-04DA85CD7C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0625"/>
            <a:ext cx="9144000" cy="1064712"/>
          </a:xfrm>
        </p:spPr>
        <p:txBody>
          <a:bodyPr/>
          <a:lstStyle/>
          <a:p>
            <a:r>
              <a:rPr lang="en-IN" dirty="0"/>
              <a:t>Classification Results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92612A-0AA5-8EC6-6CBB-B6845DA09F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0625" y="1628384"/>
            <a:ext cx="10367375" cy="3629416"/>
          </a:xfrm>
        </p:spPr>
        <p:txBody>
          <a:bodyPr/>
          <a:lstStyle/>
          <a:p>
            <a:pPr algn="l"/>
            <a:r>
              <a:rPr lang="en-IN" dirty="0"/>
              <a:t>6. Very Challenging samples (roof cannot visible has many solar panels) Flat roof covering</a:t>
            </a:r>
          </a:p>
          <a:p>
            <a:pPr algn="l"/>
            <a:endParaRPr lang="en-IN" dirty="0"/>
          </a:p>
          <a:p>
            <a:pPr algn="l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0DC9FC-8DD8-775B-2F6E-90966B844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221" y="2593572"/>
            <a:ext cx="3010161" cy="29491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D30AA3-C0CF-F0E0-468C-77BA721F4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3160" y="2724065"/>
            <a:ext cx="1882303" cy="279678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D34A0E4-8803-726A-BC92-339E9881B6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0251" y="2562385"/>
            <a:ext cx="2613887" cy="2667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436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3C232-0D84-3DC4-9F4B-A4479F825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28E1C-8E41-E5C6-3682-B8827183F9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58965"/>
          </a:xfrm>
        </p:spPr>
        <p:txBody>
          <a:bodyPr>
            <a:normAutofit fontScale="90000"/>
          </a:bodyPr>
          <a:lstStyle/>
          <a:p>
            <a:r>
              <a:rPr lang="en-IN" dirty="0"/>
              <a:t>For 3 class classification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1D5E51-E807-1AF6-6023-6BBF2969DB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0976" y="2002536"/>
            <a:ext cx="9717024" cy="3511296"/>
          </a:xfrm>
        </p:spPr>
        <p:txBody>
          <a:bodyPr>
            <a:normAutofit/>
          </a:bodyPr>
          <a:lstStyle/>
          <a:p>
            <a:pPr marL="457200" indent="-457200" algn="l">
              <a:buAutoNum type="arabicPeriod"/>
            </a:pPr>
            <a:r>
              <a:rPr lang="en-IN" dirty="0"/>
              <a:t>I added squeeze and excitation in the code of CNN</a:t>
            </a:r>
            <a:r>
              <a:rPr lang="en-US" dirty="0"/>
              <a:t> to find which feature maps (channels) are important for the image, and which should be suppressed.</a:t>
            </a:r>
          </a:p>
          <a:p>
            <a:pPr marL="457200" indent="-457200" algn="l">
              <a:buAutoNum type="arabicPeriod"/>
            </a:pPr>
            <a:endParaRPr lang="en-US" dirty="0"/>
          </a:p>
          <a:p>
            <a:pPr marL="457200" indent="-457200" algn="l">
              <a:buAutoNum type="arabicPeriod"/>
            </a:pPr>
            <a:endParaRPr lang="en-US" dirty="0"/>
          </a:p>
          <a:p>
            <a:pPr marL="457200" indent="-457200" algn="l">
              <a:buFont typeface="Arial" panose="020B0604020202020204" pitchFamily="34" charset="0"/>
              <a:buAutoNum type="arabicPeriod"/>
            </a:pPr>
            <a:r>
              <a:rPr lang="en-US" dirty="0"/>
              <a:t>In addition,  I also added Label smoothing to allow some misclassification and found the value of 0.01 to be perfect for 3 class classification after experimenting with different values.</a:t>
            </a:r>
          </a:p>
          <a:p>
            <a:pPr marL="457200" indent="-457200" algn="l">
              <a:buAutoNum type="arabicPeriod"/>
            </a:pPr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489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3ECF8-B4D4-AD36-1072-74D5F13F6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86177-617D-0EE5-4066-0D1CA3504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5449"/>
            <a:ext cx="9144000" cy="1316736"/>
          </a:xfrm>
        </p:spPr>
        <p:txBody>
          <a:bodyPr/>
          <a:lstStyle/>
          <a:p>
            <a:r>
              <a:rPr lang="en-IN" dirty="0"/>
              <a:t>3 class classification results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0F6840-9737-5B32-0D9B-27CDA76830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38344"/>
            <a:ext cx="9144000" cy="950976"/>
          </a:xfrm>
        </p:spPr>
        <p:txBody>
          <a:bodyPr>
            <a:normAutofit/>
          </a:bodyPr>
          <a:lstStyle/>
          <a:p>
            <a:r>
              <a:rPr lang="en-US" dirty="0" err="1"/>
              <a:t>class_names</a:t>
            </a:r>
            <a:r>
              <a:rPr lang="en-US" dirty="0"/>
              <a:t> = ["Slate",    "</a:t>
            </a:r>
            <a:r>
              <a:rPr lang="en-US" dirty="0" err="1"/>
              <a:t>Clay_or_Cement</a:t>
            </a:r>
            <a:r>
              <a:rPr lang="en-US" dirty="0"/>
              <a:t>",     "</a:t>
            </a:r>
            <a:r>
              <a:rPr lang="en-US" dirty="0" err="1"/>
              <a:t>Flat_roof_coverings</a:t>
            </a:r>
            <a:r>
              <a:rPr lang="en-US" dirty="0"/>
              <a:t>"]</a:t>
            </a:r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F4E888-AC22-E294-A6B9-85EB5C193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195" y="1600200"/>
            <a:ext cx="4014053" cy="30906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5857BB-87D2-9624-6B75-5817F6AE7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549" y="1965960"/>
            <a:ext cx="3620005" cy="177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313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D5B33-324D-43CD-2C57-123FD186D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0DA06-5233-2661-BD59-D6996F5A14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952" y="283465"/>
            <a:ext cx="10808208" cy="950975"/>
          </a:xfrm>
        </p:spPr>
        <p:txBody>
          <a:bodyPr>
            <a:normAutofit fontScale="90000"/>
          </a:bodyPr>
          <a:lstStyle/>
          <a:p>
            <a:r>
              <a:rPr lang="en-IN" dirty="0"/>
              <a:t>Failure cases for 3 class classification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BFF408-0010-1AD7-1C6D-2A5FE79BCF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2144" y="1337716"/>
            <a:ext cx="9515856" cy="3920084"/>
          </a:xfrm>
        </p:spPr>
        <p:txBody>
          <a:bodyPr/>
          <a:lstStyle/>
          <a:p>
            <a:pPr marL="457200" indent="-457200" algn="l">
              <a:buAutoNum type="arabicPeriod"/>
            </a:pPr>
            <a:r>
              <a:rPr lang="en-IN" dirty="0"/>
              <a:t>There are some images in Slate which are yellowish/Orange and hence are classified as </a:t>
            </a:r>
            <a:r>
              <a:rPr lang="en-IN" dirty="0" err="1"/>
              <a:t>Clay_Cement</a:t>
            </a:r>
            <a:r>
              <a:rPr lang="en-IN" dirty="0"/>
              <a:t> class. Also looks like two roof in single image.</a:t>
            </a:r>
          </a:p>
          <a:p>
            <a:pPr algn="l"/>
            <a:r>
              <a:rPr lang="en-IN" dirty="0"/>
              <a:t> </a:t>
            </a:r>
            <a:endParaRPr lang="de-D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9DE838-67C9-BDE6-9576-D093CAD56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456725"/>
            <a:ext cx="2019582" cy="23720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D0A830-9C72-467C-BD18-0350D3BF0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3419" y="2370988"/>
            <a:ext cx="2086266" cy="27531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21FDA8-13D0-C270-8998-0BFFFCAB3A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0072" y="2198748"/>
            <a:ext cx="1667108" cy="23720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087470-40A8-A3E3-1AD6-943D568C75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0960" y="2354196"/>
            <a:ext cx="1400370" cy="24577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31D83F6-9C69-C903-388D-E584ADC5A3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1330" y="2456725"/>
            <a:ext cx="2686425" cy="253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753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FDFC2-4BCE-EB8C-0D7E-F728CFF54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6306C-4510-1A05-6D5F-E186001174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952" y="283465"/>
            <a:ext cx="10808208" cy="950975"/>
          </a:xfrm>
        </p:spPr>
        <p:txBody>
          <a:bodyPr>
            <a:normAutofit fontScale="90000"/>
          </a:bodyPr>
          <a:lstStyle/>
          <a:p>
            <a:r>
              <a:rPr lang="en-IN" dirty="0"/>
              <a:t>Failure cases for 3 class classification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58E5F0-FFAF-0C71-21FC-5BBC2F02FB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2144" y="1337716"/>
            <a:ext cx="9515856" cy="3920084"/>
          </a:xfrm>
        </p:spPr>
        <p:txBody>
          <a:bodyPr/>
          <a:lstStyle/>
          <a:p>
            <a:pPr algn="l"/>
            <a:r>
              <a:rPr lang="en-IN" dirty="0"/>
              <a:t>2. Because of the same image colour of being greyish/black in slate and Flat roof covering. Some images in slate are classified as Flat Roof Coverings and vice versa.</a:t>
            </a:r>
          </a:p>
          <a:p>
            <a:pPr algn="l"/>
            <a:endParaRPr lang="en-IN" dirty="0"/>
          </a:p>
          <a:p>
            <a:pPr algn="l"/>
            <a:endParaRPr lang="de-D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646154-94C9-F6BC-6A9A-5E5034295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439726"/>
            <a:ext cx="2753109" cy="22386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05E4DE8-B382-04D4-D5F4-B798B4C47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874" y="2439726"/>
            <a:ext cx="2857899" cy="281979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8EDADED-D0D0-DFBC-39C8-9154B9BE93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7773" y="2333217"/>
            <a:ext cx="1991003" cy="292458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FCA2A44-78DD-22A7-2B07-8BF106C910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3651" y="2178414"/>
            <a:ext cx="1876687" cy="223868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E420BBC-2588-FD8A-DA7C-A2B8C5A6EC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5787" y="3297757"/>
            <a:ext cx="1886213" cy="251495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016E109-C5EA-0AF0-7B66-06270811D0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3585" y="4612478"/>
            <a:ext cx="1580222" cy="219093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5FCC7DE-00F0-38D5-304D-181D532A4D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11359" y="4417101"/>
            <a:ext cx="1571844" cy="2200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8998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19B79-3232-3635-9315-BDC72EEA2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A09CC-AB6F-FD08-C488-7C293F1FF6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952" y="283465"/>
            <a:ext cx="10808208" cy="950975"/>
          </a:xfrm>
        </p:spPr>
        <p:txBody>
          <a:bodyPr>
            <a:normAutofit fontScale="90000"/>
          </a:bodyPr>
          <a:lstStyle/>
          <a:p>
            <a:r>
              <a:rPr lang="en-IN" dirty="0"/>
              <a:t>Failure cases for 3 class classification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ED722B-6A8F-B600-1C19-023A75CA07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2144" y="1337716"/>
            <a:ext cx="9515856" cy="3920084"/>
          </a:xfrm>
        </p:spPr>
        <p:txBody>
          <a:bodyPr/>
          <a:lstStyle/>
          <a:p>
            <a:pPr algn="l"/>
            <a:r>
              <a:rPr lang="en-IN" dirty="0"/>
              <a:t>3. Because some of the images in </a:t>
            </a:r>
            <a:r>
              <a:rPr lang="en-IN" dirty="0" err="1"/>
              <a:t>Clay_Cement</a:t>
            </a:r>
            <a:r>
              <a:rPr lang="en-IN" dirty="0"/>
              <a:t> have greyish image so the model is classifying them as slate or Flat Roof Coverings</a:t>
            </a:r>
          </a:p>
          <a:p>
            <a:pPr algn="l"/>
            <a:endParaRPr lang="de-D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300800-E0D1-3046-E9AC-0750DA500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304893"/>
            <a:ext cx="1495634" cy="22482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2C8FD9-58DB-4DBB-1FAE-302B21E6A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8818" y="2230809"/>
            <a:ext cx="1448002" cy="21338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DD12A5-326D-D730-F3C4-4E23ABA577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8605" y="2108668"/>
            <a:ext cx="1705213" cy="23148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EB4BE12-9BEB-47BB-FA28-875644BDE3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0971" y="1868809"/>
            <a:ext cx="2734057" cy="249589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65084E6-BDC5-6D14-5DA6-F0FE4D29EF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0549" y="4545707"/>
            <a:ext cx="1648055" cy="225774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80DC9A0-5D16-E2F1-DEE8-79EE5CEB20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1866" y="4240864"/>
            <a:ext cx="2448267" cy="25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744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6B50F-6F79-8593-8F99-E6E0F67D8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90211-9D48-D4A3-9A43-ABFD2A19DA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952" y="283465"/>
            <a:ext cx="10808208" cy="950975"/>
          </a:xfrm>
        </p:spPr>
        <p:txBody>
          <a:bodyPr>
            <a:normAutofit fontScale="90000"/>
          </a:bodyPr>
          <a:lstStyle/>
          <a:p>
            <a:r>
              <a:rPr lang="en-IN" dirty="0"/>
              <a:t>Failure cases for 3 class classification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106946-A59F-9DD8-6AB9-FEA93B6197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2144" y="1337716"/>
            <a:ext cx="9515856" cy="3920084"/>
          </a:xfrm>
        </p:spPr>
        <p:txBody>
          <a:bodyPr/>
          <a:lstStyle/>
          <a:p>
            <a:pPr marL="457200" indent="-457200" algn="l">
              <a:buAutoNum type="arabicPeriod" startAt="4"/>
            </a:pPr>
            <a:r>
              <a:rPr lang="en-IN" dirty="0"/>
              <a:t>Samples are still challenging they have solar panels on roof.</a:t>
            </a:r>
          </a:p>
          <a:p>
            <a:pPr algn="l"/>
            <a:endParaRPr lang="de-D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52A96A-A955-0FB9-665D-B19D1A5EB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42" y="1847088"/>
            <a:ext cx="2160830" cy="23012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956C7D-C69A-F1DB-E4D4-655041A12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2058" y="1847088"/>
            <a:ext cx="1800476" cy="26292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A25FEA2-3FEA-7141-4FC2-A6A78DBBD4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844" y="1847088"/>
            <a:ext cx="2324424" cy="266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765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B7045-036D-246F-223C-DC854D57C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44179-9648-C8D9-AABC-DCEFC4DD4F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952" y="283465"/>
            <a:ext cx="10808208" cy="950975"/>
          </a:xfrm>
        </p:spPr>
        <p:txBody>
          <a:bodyPr>
            <a:normAutofit fontScale="90000"/>
          </a:bodyPr>
          <a:lstStyle/>
          <a:p>
            <a:r>
              <a:rPr lang="en-IN" dirty="0"/>
              <a:t>Failure cases for 3 class classification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2723B0-EEF3-D80C-259B-2A0A096974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2144" y="1337716"/>
            <a:ext cx="9515856" cy="3920084"/>
          </a:xfrm>
        </p:spPr>
        <p:txBody>
          <a:bodyPr/>
          <a:lstStyle/>
          <a:p>
            <a:pPr algn="l"/>
            <a:r>
              <a:rPr lang="en-IN" dirty="0"/>
              <a:t>5. Still two roofs in a single image.</a:t>
            </a:r>
          </a:p>
          <a:p>
            <a:pPr algn="l"/>
            <a:endParaRPr lang="en-IN" dirty="0"/>
          </a:p>
          <a:p>
            <a:pPr algn="l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0D5686-85CC-D778-7D18-6C6F01C89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557" y="2068861"/>
            <a:ext cx="1886213" cy="24577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DB5790-BBAD-B8DB-C37E-3D203F92A9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9154" y="1840229"/>
            <a:ext cx="2762636" cy="26864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7973217-10B1-70AE-5EC9-9354F0E77F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4743" y="1916990"/>
            <a:ext cx="2734057" cy="289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3920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57C01-E1E3-D0CE-E5C0-383C38A9A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36294-DAD1-02C6-2581-97F1567E20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952" y="283465"/>
            <a:ext cx="10808208" cy="950975"/>
          </a:xfrm>
        </p:spPr>
        <p:txBody>
          <a:bodyPr>
            <a:normAutofit fontScale="90000"/>
          </a:bodyPr>
          <a:lstStyle/>
          <a:p>
            <a:r>
              <a:rPr lang="en-IN" dirty="0"/>
              <a:t>Conclusion for 3 class classification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427169-4109-3CFB-DE1B-26C76E8CC9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2144" y="1337716"/>
            <a:ext cx="9515856" cy="3920084"/>
          </a:xfrm>
        </p:spPr>
        <p:txBody>
          <a:bodyPr>
            <a:normAutofit fontScale="92500" lnSpcReduction="20000"/>
          </a:bodyPr>
          <a:lstStyle/>
          <a:p>
            <a:pPr marL="457200" indent="-457200" algn="l">
              <a:buAutoNum type="arabicPeriod"/>
            </a:pPr>
            <a:r>
              <a:rPr lang="en-IN" dirty="0"/>
              <a:t>Model is learning the colour - </a:t>
            </a:r>
            <a:r>
              <a:rPr lang="en-US" dirty="0"/>
              <a:t> Slate and </a:t>
            </a:r>
            <a:r>
              <a:rPr lang="en-US" dirty="0" err="1"/>
              <a:t>Flat_roof_coverings</a:t>
            </a:r>
            <a:r>
              <a:rPr lang="en-US" dirty="0"/>
              <a:t> are mostly gray and black while  Clay and Cement are mostly  Orange.</a:t>
            </a:r>
          </a:p>
          <a:p>
            <a:pPr marL="457200" indent="-457200" algn="l">
              <a:buAutoNum type="arabicPeriod"/>
            </a:pPr>
            <a:r>
              <a:rPr lang="en-US" dirty="0"/>
              <a:t>The double roof problem is minimized but not completely extinct as images are mostly classified based on its </a:t>
            </a:r>
            <a:r>
              <a:rPr lang="en-US" dirty="0" err="1"/>
              <a:t>colour</a:t>
            </a:r>
            <a:r>
              <a:rPr lang="en-US" dirty="0"/>
              <a:t> to the class.</a:t>
            </a:r>
          </a:p>
          <a:p>
            <a:pPr marL="457200" indent="-457200" algn="l">
              <a:buFont typeface="Arial" panose="020B0604020202020204" pitchFamily="34" charset="0"/>
              <a:buAutoNum type="arabicPeriod"/>
            </a:pPr>
            <a:r>
              <a:rPr lang="en-IN" dirty="0"/>
              <a:t>Problem in Ground truth data-(Flat roof covering has wrong image) as in 4 class classification  is still remain as it is because we have not changed the dataset.</a:t>
            </a:r>
          </a:p>
          <a:p>
            <a:pPr algn="l"/>
            <a:endParaRPr lang="en-IN" dirty="0"/>
          </a:p>
          <a:p>
            <a:pPr algn="l"/>
            <a:r>
              <a:rPr lang="en-IN" dirty="0"/>
              <a:t>But still the 3 class classification has given better results as compare to 4 class</a:t>
            </a:r>
          </a:p>
          <a:p>
            <a:pPr algn="l"/>
            <a:r>
              <a:rPr lang="en-IN" dirty="0"/>
              <a:t>Now , possible solution is to use the height information provided by Kerstin and proceed further to find out results.</a:t>
            </a:r>
          </a:p>
        </p:txBody>
      </p:sp>
    </p:spTree>
    <p:extLst>
      <p:ext uri="{BB962C8B-B14F-4D97-AF65-F5344CB8AC3E}">
        <p14:creationId xmlns:p14="http://schemas.microsoft.com/office/powerpoint/2010/main" val="1506095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530</Words>
  <Application>Microsoft Office PowerPoint</Application>
  <PresentationFormat>Widescreen</PresentationFormat>
  <Paragraphs>50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Masked Patches 3 class</vt:lpstr>
      <vt:lpstr>Previous Results from CNN model for 4 class</vt:lpstr>
      <vt:lpstr>Possible reasons for failure cases in 4 class classification</vt:lpstr>
      <vt:lpstr>Classification Results 4 class</vt:lpstr>
      <vt:lpstr>Classification Results</vt:lpstr>
      <vt:lpstr>Classification Results</vt:lpstr>
      <vt:lpstr>Classification Results</vt:lpstr>
      <vt:lpstr>Classification Results</vt:lpstr>
      <vt:lpstr>For 3 class classification</vt:lpstr>
      <vt:lpstr>3 class classification results</vt:lpstr>
      <vt:lpstr>Failure cases for 3 class classification</vt:lpstr>
      <vt:lpstr>Failure cases for 3 class classification</vt:lpstr>
      <vt:lpstr>Failure cases for 3 class classification</vt:lpstr>
      <vt:lpstr>Failure cases for 3 class classification</vt:lpstr>
      <vt:lpstr>Failure cases for 3 class classification</vt:lpstr>
      <vt:lpstr>Conclusion for 3 class classification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Anshuman Singh</dc:creator>
  <cp:lastModifiedBy>Anshuman Singh</cp:lastModifiedBy>
  <cp:revision>1</cp:revision>
  <dcterms:created xsi:type="dcterms:W3CDTF">2026-04-13T12:12:59Z</dcterms:created>
  <dcterms:modified xsi:type="dcterms:W3CDTF">2026-04-13T14:38:26Z</dcterms:modified>
</cp:coreProperties>
</file>