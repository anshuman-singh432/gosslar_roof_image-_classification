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5" r:id="rId7"/>
    <p:sldId id="262" r:id="rId8"/>
    <p:sldId id="257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248" autoAdjust="0"/>
  </p:normalViewPr>
  <p:slideViewPr>
    <p:cSldViewPr snapToGrid="0">
      <p:cViewPr varScale="1">
        <p:scale>
          <a:sx n="61" d="100"/>
          <a:sy n="61" d="100"/>
        </p:scale>
        <p:origin x="15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B31DF-BC5F-449C-8715-708C5EE345A1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4F2F9-C3B2-45AE-A431-CF82AFA60F4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3120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separates classes mainly by:</a:t>
            </a:r>
          </a:p>
          <a:p>
            <a:r>
              <a:rPr lang="en-US" dirty="0"/>
              <a:t>Lighting + Texture complexity</a:t>
            </a:r>
          </a:p>
          <a:p>
            <a:r>
              <a:rPr lang="en-US" dirty="0"/>
              <a:t>NOT purely by shape.</a:t>
            </a:r>
          </a:p>
          <a:p>
            <a:br>
              <a:rPr lang="de-DE" dirty="0"/>
            </a:br>
            <a:r>
              <a:rPr lang="en-US" b="1" dirty="0"/>
              <a:t>Classes 0,1,2 overlap heavily</a:t>
            </a:r>
          </a:p>
          <a:p>
            <a:r>
              <a:rPr lang="en-US" dirty="0"/>
              <a:t>Their boxes overlap almost completely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4F2F9-C3B2-45AE-A431-CF82AFA60F4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185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4F2F9-C3B2-45AE-A431-CF82AFA60F4A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4148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4F2F9-C3B2-45AE-A431-CF82AFA60F4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3598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DFD56-9871-2633-57D4-D551E5EDB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7C75E-5586-18EA-9C20-C41449DBB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D77AB-3B2D-9784-9BE0-A75292A88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407B-7846-48EB-B354-F6D3B9C4AD2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9C1BE-15C9-EF23-FE92-DD59F074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4D567-BADE-DFD8-490D-DECD3D1C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1EA2-468D-4F35-8B74-EDA532F974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0478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8DEFE-5172-C6EC-A4D4-0BD57EA6A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3454C-473B-5494-AA91-D358F9FF1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0746C-9990-53A2-A777-146D64633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407B-7846-48EB-B354-F6D3B9C4AD2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D50A9-8844-E26A-FC47-10204502B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0EFEB-DB15-604E-E80E-4529212C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1EA2-468D-4F35-8B74-EDA532F974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7826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54DC-5BEB-154F-0989-73AFFCE72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BC5A5-F4E5-C2B3-B32D-90ADBDD71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00AF3-9995-7FF4-E8A3-C47B7529D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407B-7846-48EB-B354-F6D3B9C4AD2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D5087-42ED-A21B-6058-D38AFC28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50853-0B81-87E0-CDC1-AC4F1DED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1EA2-468D-4F35-8B74-EDA532F974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538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A1CE-4A4A-BFFB-1FA8-608E2B95A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4231D-A94C-7979-63D2-D8E5E0CF3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432A3-62C2-A83C-2047-09AE49079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7840C-9D43-EEAA-63F6-96C2C561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407B-7846-48EB-B354-F6D3B9C4AD2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EEFA9-91B3-A0B2-D5B9-B0F7A455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FB592-74F0-9971-FD7A-2B80F524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1EA2-468D-4F35-8B74-EDA532F974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852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AB5B-5783-A950-6F45-E62CAA9EB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A3919-409A-709D-1D6F-267075719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6A896-BCB3-A816-1D49-22EDAC19B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68011-21F1-E2EC-84EA-DE3DC1FB2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69218E-F961-81E3-5799-D4974B0F3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B17B14-61C1-C1C9-F060-FDE532E4C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407B-7846-48EB-B354-F6D3B9C4AD2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532334-A53E-C403-5383-4169D92F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BEBDC-DC37-9B88-C850-496050AE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1EA2-468D-4F35-8B74-EDA532F974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1795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CA65C-C4B8-BFBF-FC5A-11F0B8D0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A3DC2-A660-D826-6E4D-24A46CB62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407B-7846-48EB-B354-F6D3B9C4AD2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4FFCE-03C4-B932-5827-76DD3E48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A14EF-522E-8B8A-916B-FFFE2195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1EA2-468D-4F35-8B74-EDA532F974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52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0BD2EA-3001-F14E-C87C-AECBD3DD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407B-7846-48EB-B354-F6D3B9C4AD2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500D7-A31A-088E-B671-0DD935515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4E11F-A598-CD3A-8B19-216BE13C5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1EA2-468D-4F35-8B74-EDA532F974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65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41D0-0715-81EF-D258-897538C00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FA922-7C95-F350-C9CE-A1161CAF4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D5915-E365-155E-202F-0A6B4E285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83677-27FE-0BB7-BC22-418A1E1B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407B-7846-48EB-B354-F6D3B9C4AD2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882FA-4451-966A-5E90-6E7A9B508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3240F-14B2-5A58-EF60-E10ADF41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1EA2-468D-4F35-8B74-EDA532F974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4736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1825F-1E12-B109-C96B-3417D4480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D4C14-8149-671B-7B4D-A5FFBCCA6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47F28-5537-1736-5E6E-6B4710FF1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0C059-4082-5304-FFF8-7526331DA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407B-7846-48EB-B354-F6D3B9C4AD2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138F2-D847-EC28-DD53-0228C1B1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90DCD-C235-60CF-66E1-EFBE3233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1EA2-468D-4F35-8B74-EDA532F974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5085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2642-3721-AB2E-39BC-6648F7BFF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12435-F31D-1C9C-354E-48FBDD4F2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6D63D-A405-3D70-F671-E7E24DC0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407B-7846-48EB-B354-F6D3B9C4AD2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5C0F2-83D9-0368-1248-3A400B131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0E484-C9A1-9D3B-59E9-BE4DC587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1EA2-468D-4F35-8B74-EDA532F974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911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614235-0017-74A0-A2BD-B5511F66E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54C94-D5F4-F08D-5B25-FC73B310F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A022A-0D6D-52E3-B618-88D8809F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407B-7846-48EB-B354-F6D3B9C4AD2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B4DEF-B154-7698-5C0E-0F2B24843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C99E7-7C90-1ACA-8079-D82D0004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1EA2-468D-4F35-8B74-EDA532F974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807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92D054-BF21-22FD-C1D7-CDFA720CF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69CB0-12EB-0A3B-0492-C1616AECA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54351-3DAE-F8A5-95B3-62404C9712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35407B-7846-48EB-B354-F6D3B9C4AD2C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B524D-B1FE-846F-6068-2F864E93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A6407-94E3-110B-262D-85C48CA94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F51EA2-468D-4F35-8B74-EDA532F974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2114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71D56-7455-2131-3102-FB0160E01F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Masked Patches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79B0F-BA05-9683-ABBB-BE80310E75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Image Classification by  Anshuman Singh</a:t>
            </a:r>
            <a:br>
              <a:rPr lang="en-IN" dirty="0"/>
            </a:br>
            <a:r>
              <a:rPr lang="en-IN" dirty="0"/>
              <a:t>Matriculation - 5431362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07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BB5A7-4EE4-CEF5-91E0-639F8198B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B16D-4FE8-B93E-0364-E911235F6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0800000" flipV="1">
            <a:off x="1524000" y="501443"/>
            <a:ext cx="2074606" cy="875073"/>
          </a:xfrm>
        </p:spPr>
        <p:txBody>
          <a:bodyPr>
            <a:normAutofit fontScale="90000"/>
          </a:bodyPr>
          <a:lstStyle/>
          <a:p>
            <a:r>
              <a:rPr lang="en-IN" dirty="0"/>
              <a:t>EDA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54937-C7B1-5445-A0B9-D2D511557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626" y="4949559"/>
            <a:ext cx="5722375" cy="1694373"/>
          </a:xfrm>
        </p:spPr>
        <p:txBody>
          <a:bodyPr>
            <a:normAutofit lnSpcReduction="10000"/>
          </a:bodyPr>
          <a:lstStyle/>
          <a:p>
            <a:r>
              <a:rPr lang="de-DE" sz="1800" dirty="0" err="1"/>
              <a:t>Brightness</a:t>
            </a:r>
            <a:r>
              <a:rPr lang="de-DE" sz="1800" dirty="0"/>
              <a:t> = </a:t>
            </a:r>
            <a:r>
              <a:rPr lang="de-DE" sz="1800" dirty="0" err="1"/>
              <a:t>average</a:t>
            </a:r>
            <a:r>
              <a:rPr lang="de-DE" sz="1800" dirty="0"/>
              <a:t> </a:t>
            </a:r>
            <a:r>
              <a:rPr lang="de-DE" sz="1800" dirty="0" err="1"/>
              <a:t>pixel</a:t>
            </a:r>
            <a:r>
              <a:rPr lang="de-DE" sz="1800" dirty="0"/>
              <a:t> </a:t>
            </a:r>
            <a:r>
              <a:rPr lang="de-DE" sz="1800" dirty="0" err="1"/>
              <a:t>intensity</a:t>
            </a:r>
            <a:endParaRPr lang="de-DE" sz="1800" dirty="0"/>
          </a:p>
          <a:p>
            <a:r>
              <a:rPr lang="en-US" sz="1800" dirty="0"/>
              <a:t>Contrast = standard deviation of pixel intensity.</a:t>
            </a:r>
          </a:p>
          <a:p>
            <a:r>
              <a:rPr lang="en-US" sz="1800" dirty="0"/>
              <a:t>Higher contrast → strong edges / strong variation.</a:t>
            </a:r>
          </a:p>
          <a:p>
            <a:r>
              <a:rPr lang="en-US" sz="1800" dirty="0"/>
              <a:t>More edges → more texture complexity</a:t>
            </a:r>
            <a:br>
              <a:rPr lang="en-US" sz="1800" dirty="0"/>
            </a:br>
            <a:r>
              <a:rPr lang="en-US" sz="1800" dirty="0"/>
              <a:t>Less edges → smoother surface</a:t>
            </a:r>
            <a:endParaRPr lang="de-DE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681A3-56C8-EED5-5FED-FA5B7891E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20" y="1505544"/>
            <a:ext cx="5128704" cy="3314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2AA76E-BDF9-D600-6739-9DD4B2001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4069"/>
            <a:ext cx="5075360" cy="3375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C05B2A-96A5-FF74-65AE-BB2054BB2F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684" y="3590022"/>
            <a:ext cx="5006774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8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7271-E10A-328A-2B0E-21904D3A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7BF7-53A9-1549-6A02-861000FFC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206477"/>
            <a:ext cx="2349910" cy="875071"/>
          </a:xfrm>
        </p:spPr>
        <p:txBody>
          <a:bodyPr>
            <a:normAutofit fontScale="90000"/>
          </a:bodyPr>
          <a:lstStyle/>
          <a:p>
            <a:r>
              <a:rPr lang="en-IN" dirty="0"/>
              <a:t>EDA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B581B-8F67-2E37-1C13-2245AFE9C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 flipV="1">
            <a:off x="91066" y="4253893"/>
            <a:ext cx="5837131" cy="23976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Class 0 vs Class 1 RGB almost coincide</a:t>
            </a:r>
          </a:p>
          <a:p>
            <a:r>
              <a:rPr lang="en-US" dirty="0"/>
              <a:t>Brightness-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outliers</a:t>
            </a:r>
            <a:r>
              <a:rPr lang="de-DE" dirty="0"/>
              <a:t> (~130–180) </a:t>
            </a:r>
            <a:r>
              <a:rPr lang="de-DE" dirty="0" err="1"/>
              <a:t>meaning</a:t>
            </a:r>
            <a:r>
              <a:rPr lang="de-DE" dirty="0"/>
              <a:t> </a:t>
            </a:r>
            <a:r>
              <a:rPr lang="de-DE" dirty="0" err="1"/>
              <a:t>shadows</a:t>
            </a:r>
            <a:r>
              <a:rPr lang="de-DE" dirty="0"/>
              <a:t>.</a:t>
            </a:r>
          </a:p>
          <a:p>
            <a:r>
              <a:rPr lang="en-US" dirty="0"/>
              <a:t>Brightness variation depends more on color ID than class.</a:t>
            </a:r>
            <a:br>
              <a:rPr lang="en-US" dirty="0"/>
            </a:br>
            <a:r>
              <a:rPr lang="en-US" dirty="0"/>
              <a:t>Texture varies strongly within class depending on color.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CB572-6E2A-9077-6744-C6082C765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3665"/>
            <a:ext cx="5837131" cy="3330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EC2401-8222-BBE5-AB28-5D13775A2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198" y="206477"/>
            <a:ext cx="6172735" cy="3406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2779BF-4847-1951-23FE-59B006D71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131" y="3558254"/>
            <a:ext cx="6035563" cy="32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7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CFDC8-23E7-A107-EED1-14AC85C0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844B8A-DABB-4BE1-7F83-45A07DF2C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047" y="4905101"/>
            <a:ext cx="11373632" cy="189143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Brighter images tend to have lower contrast, darker images often contain sharper intensity variation. </a:t>
            </a:r>
            <a:r>
              <a:rPr lang="de-DE" dirty="0"/>
              <a:t>Edge Density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Brightness</a:t>
            </a:r>
            <a:r>
              <a:rPr lang="de-DE" dirty="0"/>
              <a:t>, </a:t>
            </a:r>
            <a:r>
              <a:rPr lang="en-US" dirty="0"/>
              <a:t> </a:t>
            </a:r>
            <a:r>
              <a:rPr lang="de-DE" dirty="0"/>
              <a:t>Bright </a:t>
            </a:r>
            <a:r>
              <a:rPr lang="de-DE" dirty="0" err="1"/>
              <a:t>images</a:t>
            </a:r>
            <a:r>
              <a:rPr lang="de-DE" dirty="0"/>
              <a:t> → </a:t>
            </a:r>
            <a:r>
              <a:rPr lang="de-DE" dirty="0" err="1"/>
              <a:t>fewer</a:t>
            </a:r>
            <a:r>
              <a:rPr lang="de-DE" dirty="0"/>
              <a:t> </a:t>
            </a:r>
            <a:r>
              <a:rPr lang="de-DE" dirty="0" err="1"/>
              <a:t>edges</a:t>
            </a:r>
            <a:r>
              <a:rPr lang="de-DE" dirty="0"/>
              <a:t>. Edge Density ↔ </a:t>
            </a:r>
            <a:r>
              <a:rPr lang="de-DE" dirty="0" err="1"/>
              <a:t>Contrast</a:t>
            </a:r>
            <a:r>
              <a:rPr lang="de-DE" dirty="0"/>
              <a:t>, </a:t>
            </a:r>
            <a:r>
              <a:rPr lang="en-US" dirty="0"/>
              <a:t>More edges ⇒ more intensity variation ⇒ higher contrast.               In PCA Classes strongly overlap -There are no clearly separated clusters.</a:t>
            </a:r>
          </a:p>
          <a:p>
            <a:pPr algn="l"/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62531-2A2D-E2DF-81D0-BF7C0179F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91" y="341346"/>
            <a:ext cx="5711868" cy="4393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C4F976-EE0E-3172-8F25-4565211AC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160" y="511610"/>
            <a:ext cx="5503948" cy="422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82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2F12A-A328-7747-DD0F-6F4A1B4A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CDBB66-D4E4-4E99-C93D-B08F882F2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769" y="4672208"/>
            <a:ext cx="9507255" cy="174111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In PCA, Some color groups form local regions.</a:t>
            </a:r>
            <a:br>
              <a:rPr lang="en-US" dirty="0"/>
            </a:br>
            <a:r>
              <a:rPr lang="en-US" dirty="0"/>
              <a:t>Still strong overlap → color alone does not define image structure.</a:t>
            </a:r>
            <a:br>
              <a:rPr lang="en-US" dirty="0"/>
            </a:br>
            <a:r>
              <a:rPr lang="en-US" dirty="0"/>
              <a:t>Class Imbalance – class 1 is dominant</a:t>
            </a:r>
            <a:br>
              <a:rPr lang="en-US" dirty="0"/>
            </a:br>
            <a:r>
              <a:rPr lang="en-US" dirty="0"/>
              <a:t>Also color imbalance there are various rare </a:t>
            </a:r>
            <a:r>
              <a:rPr lang="en-US" dirty="0" err="1"/>
              <a:t>colours</a:t>
            </a:r>
            <a:r>
              <a:rPr lang="en-US" dirty="0"/>
              <a:t>.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9E127-4544-8F2B-BDCC-4597C4F5D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524" y="236369"/>
            <a:ext cx="4389500" cy="37798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ADED2A-DF47-5EB8-7650-B719A2182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773" y="236369"/>
            <a:ext cx="3093927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9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1EFBF-998C-B160-1381-E4DB4E4D7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7AD8B-1A27-37B3-1115-C0EB64F7F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5877"/>
            <a:ext cx="9144000" cy="716309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DataSet</a:t>
            </a:r>
            <a:r>
              <a:rPr lang="en-IN" dirty="0"/>
              <a:t> Division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0A5F6-4D35-8B42-8D70-27492687C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359" y="1052186"/>
            <a:ext cx="10254641" cy="546993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class 0= 1 + 494 + 3 + 5 + 1  =  504 images</a:t>
            </a:r>
          </a:p>
          <a:p>
            <a:pPr algn="l"/>
            <a:r>
              <a:rPr lang="en-US" dirty="0"/>
              <a:t>class 1= 9 + 870 +1 + 263 + 75 + 2   = 1220 images</a:t>
            </a:r>
          </a:p>
          <a:p>
            <a:pPr algn="l"/>
            <a:r>
              <a:rPr lang="en-US" dirty="0"/>
              <a:t>class 2 = 1 + 360 + 35 + 26    =    422 images</a:t>
            </a:r>
          </a:p>
          <a:p>
            <a:pPr algn="l"/>
            <a:r>
              <a:rPr lang="en-US" dirty="0"/>
              <a:t>class 3 = 3 + 6 + 1 + 16 + 32 + 157 =  215 images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Ratio 8:1:1</a:t>
            </a:r>
          </a:p>
          <a:p>
            <a:pPr algn="l"/>
            <a:r>
              <a:rPr lang="en-US" dirty="0"/>
              <a:t>1920 :  240 : 240</a:t>
            </a:r>
          </a:p>
          <a:p>
            <a:pPr algn="l"/>
            <a:r>
              <a:rPr lang="en-US" dirty="0"/>
              <a:t>train :</a:t>
            </a:r>
            <a:r>
              <a:rPr lang="en-US" dirty="0" err="1"/>
              <a:t>test:validation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There is overlap of images between train , test  and validation and also within the color sets respectively. Precautions were taken for this while dividing dataset.</a:t>
            </a:r>
          </a:p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736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865CD-BD19-5072-AB84-636F4035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0AC51-AAC3-E13E-9826-12783E4A7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118" y="100209"/>
            <a:ext cx="8926882" cy="889348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 from CNN model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59FFB-3E3B-8B22-532B-75553C8CE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838" y="6087649"/>
            <a:ext cx="10505162" cy="452249"/>
          </a:xfrm>
        </p:spPr>
        <p:txBody>
          <a:bodyPr/>
          <a:lstStyle/>
          <a:p>
            <a:r>
              <a:rPr lang="en-US" dirty="0" err="1"/>
              <a:t>class_names</a:t>
            </a:r>
            <a:r>
              <a:rPr lang="en-US" dirty="0"/>
              <a:t> = ["Slate", "Clay", "Cement", "</a:t>
            </a:r>
            <a:r>
              <a:rPr lang="en-US" dirty="0" err="1"/>
              <a:t>Flat_roof_coverings</a:t>
            </a:r>
            <a:r>
              <a:rPr lang="en-US" dirty="0"/>
              <a:t>"]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9F928-53D9-8F7B-D402-8EA7E250B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71" y="1600200"/>
            <a:ext cx="5284594" cy="3294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3CC061-8E33-64C8-EAFB-D9F344A41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737" y="922482"/>
            <a:ext cx="5486875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2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A3B2-0F33-BB81-466A-3A916C672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B22E-C494-95A0-B357-EF4595D3C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625"/>
            <a:ext cx="9144000" cy="1064712"/>
          </a:xfrm>
        </p:spPr>
        <p:txBody>
          <a:bodyPr/>
          <a:lstStyle/>
          <a:p>
            <a:r>
              <a:rPr lang="en-IN" dirty="0"/>
              <a:t>Classification Results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9E4F3-B14C-A3F5-E38D-126C074C1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25" y="1628384"/>
            <a:ext cx="10367375" cy="3629416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IN" dirty="0"/>
              <a:t>Shape and Height that means not flat roof covering.</a:t>
            </a:r>
          </a:p>
          <a:p>
            <a:pPr algn="l"/>
            <a:endParaRPr lang="en-IN" dirty="0"/>
          </a:p>
          <a:p>
            <a:pPr marL="457200" indent="-457200" algn="l">
              <a:buAutoNum type="arabicPeriod"/>
            </a:pP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B18EF2-0D0B-B2D2-FFCA-83E32C210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942" y="1365337"/>
            <a:ext cx="2370025" cy="2309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CA4FF2-5D1C-4C8A-6FBB-F94A15F9F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61" y="2791847"/>
            <a:ext cx="2286198" cy="23014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37BF83-E510-87A8-6A86-1518038C6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409" y="3674397"/>
            <a:ext cx="4770533" cy="24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4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E947F-4AEB-CE4C-17EC-E6F8E1A5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AB34-F690-47D7-4442-A34498146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625"/>
            <a:ext cx="9144000" cy="1064712"/>
          </a:xfrm>
        </p:spPr>
        <p:txBody>
          <a:bodyPr/>
          <a:lstStyle/>
          <a:p>
            <a:r>
              <a:rPr lang="en-IN" dirty="0"/>
              <a:t>Classification Results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8E48F-0EDD-21C1-4419-D4505766D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25" y="1628384"/>
            <a:ext cx="10367375" cy="3629416"/>
          </a:xfrm>
        </p:spPr>
        <p:txBody>
          <a:bodyPr/>
          <a:lstStyle/>
          <a:p>
            <a:pPr marL="457200" indent="-457200" algn="l">
              <a:buAutoNum type="arabicPeriod" startAt="2"/>
            </a:pPr>
            <a:r>
              <a:rPr lang="en-IN" dirty="0"/>
              <a:t>Many clay are classified as cement.</a:t>
            </a:r>
          </a:p>
          <a:p>
            <a:pPr marL="457200" indent="-457200" algn="l">
              <a:buAutoNum type="arabicPeriod" startAt="2"/>
            </a:pPr>
            <a:endParaRPr lang="en-IN" dirty="0"/>
          </a:p>
          <a:p>
            <a:pPr algn="l"/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B5D2A6-AED9-05DC-7AB5-0D3F026EE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33" y="2463316"/>
            <a:ext cx="1646063" cy="2766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6340F2-71EA-CD3C-D2D9-83B12F64A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169" y="2389135"/>
            <a:ext cx="1638442" cy="25757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00AA10-CCD2-F051-4207-76E14F91A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282" y="2389135"/>
            <a:ext cx="1562235" cy="24233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57B2D5-4BBC-255A-056D-9F6352E2E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6155" y="2206238"/>
            <a:ext cx="2034716" cy="29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40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D658E-EC72-E111-0795-12DE93F6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6C851-BE86-A407-1E34-D9ABF859B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625"/>
            <a:ext cx="9144000" cy="1064712"/>
          </a:xfrm>
        </p:spPr>
        <p:txBody>
          <a:bodyPr/>
          <a:lstStyle/>
          <a:p>
            <a:r>
              <a:rPr lang="en-IN" dirty="0"/>
              <a:t>Classification Results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269BB-A7F8-4A69-89A9-0BD8EACF0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25" y="1628384"/>
            <a:ext cx="10367375" cy="3629416"/>
          </a:xfrm>
        </p:spPr>
        <p:txBody>
          <a:bodyPr/>
          <a:lstStyle/>
          <a:p>
            <a:pPr marL="457200" indent="-457200" algn="l">
              <a:buAutoNum type="arabicPeriod" startAt="3"/>
            </a:pPr>
            <a:r>
              <a:rPr lang="en-IN" dirty="0"/>
              <a:t>Why Yellowish roof are classified as cement ?</a:t>
            </a: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2F513-1854-1002-D40C-BEBAFC0C9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77" y="2250458"/>
            <a:ext cx="1988992" cy="2385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530726-6936-85ED-9698-8AF9AECF8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03" y="2202073"/>
            <a:ext cx="1767993" cy="245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39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B0F79-D7D4-F07F-18F5-67F18AD1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A21F-9CAB-397F-AB3A-7BBD628B4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625"/>
            <a:ext cx="9144000" cy="1064712"/>
          </a:xfrm>
        </p:spPr>
        <p:txBody>
          <a:bodyPr/>
          <a:lstStyle/>
          <a:p>
            <a:r>
              <a:rPr lang="en-IN" dirty="0"/>
              <a:t>Classification Results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BC21F-68B8-077D-7548-CA245563F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25" y="1628384"/>
            <a:ext cx="10367375" cy="3629416"/>
          </a:xfrm>
        </p:spPr>
        <p:txBody>
          <a:bodyPr/>
          <a:lstStyle/>
          <a:p>
            <a:pPr algn="l"/>
            <a:r>
              <a:rPr lang="en-IN" dirty="0"/>
              <a:t>4. Problem in Ground truth data-(Flat roof covering has wrong image)</a:t>
            </a:r>
          </a:p>
          <a:p>
            <a:pPr algn="l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67B6D3-70AF-6069-2630-0C8BB6ABA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31" y="2292372"/>
            <a:ext cx="1752752" cy="23014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A90D66-2FC9-4A48-64F1-A6AB2D463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371" y="2292372"/>
            <a:ext cx="1348857" cy="24157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AAAC3C-4309-F415-7D29-159EA9D85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964" y="2399061"/>
            <a:ext cx="1714649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00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D0D8-93AC-53BF-98ED-9FAC96F3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64C03-F625-505D-6EA0-AB9A3FDA1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625"/>
            <a:ext cx="9144000" cy="1064712"/>
          </a:xfrm>
        </p:spPr>
        <p:txBody>
          <a:bodyPr/>
          <a:lstStyle/>
          <a:p>
            <a:r>
              <a:rPr lang="en-IN" dirty="0"/>
              <a:t>Classification Results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E4286-A5A6-3B37-7E86-D1FCBEFAE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25" y="1628384"/>
            <a:ext cx="10367375" cy="3629416"/>
          </a:xfrm>
        </p:spPr>
        <p:txBody>
          <a:bodyPr/>
          <a:lstStyle/>
          <a:p>
            <a:pPr algn="l"/>
            <a:r>
              <a:rPr lang="en-IN" dirty="0"/>
              <a:t>5. Two roof in a single image.(Possibilities in vector data)</a:t>
            </a: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20370-6D69-A6F0-0A00-316E8AFA8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89" y="2225550"/>
            <a:ext cx="2476715" cy="2682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14FE11-D879-CFD8-CFD7-79DDF1479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596" y="2126481"/>
            <a:ext cx="2034716" cy="28806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A9AD36-A8CF-AE56-114E-92B15E30B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115" y="2044180"/>
            <a:ext cx="3170195" cy="31854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95CC8D-E1E8-3196-277B-02126CF07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8309" y="2060669"/>
            <a:ext cx="1928027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178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6733-68B1-38A1-3327-CADC0D84B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B5FF-28F7-9E4E-2118-04DA85CD7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625"/>
            <a:ext cx="9144000" cy="1064712"/>
          </a:xfrm>
        </p:spPr>
        <p:txBody>
          <a:bodyPr/>
          <a:lstStyle/>
          <a:p>
            <a:r>
              <a:rPr lang="en-IN" dirty="0"/>
              <a:t>Classification Results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2612A-0AA5-8EC6-6CBB-B6845DA09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25" y="1628384"/>
            <a:ext cx="10367375" cy="3629416"/>
          </a:xfrm>
        </p:spPr>
        <p:txBody>
          <a:bodyPr/>
          <a:lstStyle/>
          <a:p>
            <a:pPr algn="l"/>
            <a:r>
              <a:rPr lang="en-IN" dirty="0"/>
              <a:t>6. Very Challenging samples (roof cannot visible has many solar panels) Flat roof covering</a:t>
            </a:r>
          </a:p>
          <a:p>
            <a:pPr algn="l"/>
            <a:endParaRPr lang="en-IN" dirty="0"/>
          </a:p>
          <a:p>
            <a:pPr algn="l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0DC9FC-8DD8-775B-2F6E-90966B844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21" y="2593572"/>
            <a:ext cx="3010161" cy="2949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D30AA3-C0CF-F0E0-468C-77BA721F4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160" y="2724065"/>
            <a:ext cx="1882303" cy="27967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34A0E4-8803-726A-BC92-339E9881B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251" y="2562385"/>
            <a:ext cx="2613887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36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5714-571E-D9D5-FD54-DAA260AA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1802-93D0-6A07-E5A3-0424AAEFFE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24FF8-B4B9-890E-4998-9EE0C549C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2216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Office PowerPoint</Application>
  <PresentationFormat>Widescreen</PresentationFormat>
  <Paragraphs>46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Masked Patches</vt:lpstr>
      <vt:lpstr>EDA</vt:lpstr>
      <vt:lpstr>EDA</vt:lpstr>
      <vt:lpstr>PowerPoint Presentation</vt:lpstr>
      <vt:lpstr>PowerPoint Presentation</vt:lpstr>
      <vt:lpstr>DataSet Division</vt:lpstr>
      <vt:lpstr>Results from CNN model</vt:lpstr>
      <vt:lpstr>Classification Results</vt:lpstr>
      <vt:lpstr>Classification Results</vt:lpstr>
      <vt:lpstr>Classification Results</vt:lpstr>
      <vt:lpstr>Classification Results</vt:lpstr>
      <vt:lpstr>Classification Results</vt:lpstr>
      <vt:lpstr>Classification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Anshuman Singh</dc:creator>
  <cp:lastModifiedBy>Anshuman Singh</cp:lastModifiedBy>
  <cp:revision>4</cp:revision>
  <dcterms:created xsi:type="dcterms:W3CDTF">2026-03-26T19:38:38Z</dcterms:created>
  <dcterms:modified xsi:type="dcterms:W3CDTF">2026-03-27T06:27:05Z</dcterms:modified>
</cp:coreProperties>
</file>